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A REAL LETTER, MAILED TO REAL PEOPLE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371600"/>
            <a:ext cx="10180015" cy="2286000"/>
          </a:xfrm>
          <a:prstGeom prst="rect">
            <a:avLst/>
          </a:prstGeom>
          <a:solidFill>
            <a:srgbClr val="FB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lnSpc>
                <a:spcPct val="150000"/>
              </a:lnSpc>
            </a:pPr>
            <a:r>
              <a:rPr sz="2000">
                <a:solidFill>
                  <a:srgbClr val="262319"/>
                </a:solidFill>
                <a:latin typeface="Courier New"/>
              </a:rPr>
              <a:t>"Underbody heat and noise insulators may loosen and contact the aluminum driveshaft, which could damage the driveshaft and cause it to fracture…"</a:t>
            </a:r>
          </a:p>
        </p:txBody>
      </p:sp>
      <p:sp>
        <p:nvSpPr>
          <p:cNvPr id="74" name="Rectangle 73"/>
          <p:cNvSpPr/>
          <p:nvPr/>
        </p:nvSpPr>
        <p:spPr>
          <a:xfrm rot="240000">
            <a:off x="9082735" y="1536192"/>
            <a:ext cx="1737360" cy="384048"/>
          </a:xfrm>
          <a:prstGeom prst="rect">
            <a:avLst/>
          </a:prstGeom>
          <a:noFill/>
          <a:ln w="25400">
            <a:solidFill>
              <a:srgbClr val="D6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D64036"/>
                </a:solidFill>
                <a:latin typeface="Arial Narrow"/>
              </a:rPr>
              <a:t>SAFETY RECALL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3977639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DECE7"/>
                </a:solidFill>
                <a:latin typeface="Arial"/>
              </a:rPr>
              <a:t>Measured across 11,591 of these letters: average reading level </a:t>
            </a:r>
            <a:r>
              <a:rPr sz="2400" b="1">
                <a:solidFill>
                  <a:srgbClr val="F7B500"/>
                </a:solidFill>
                <a:latin typeface="Courier New"/>
              </a:rPr>
              <a:t>grade 12.7</a:t>
            </a:r>
            <a:r>
              <a:rPr sz="1900" b="0">
                <a:solidFill>
                  <a:srgbClr val="EDECE7"/>
                </a:solidFill>
                <a:latin typeface="Arial"/>
              </a:rPr>
              <a:t> — college.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RecallClear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Duke AIPI 540 ·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THE PROBLEM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105156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800" b="1">
                <a:solidFill>
                  <a:srgbClr val="EDECE7"/>
                </a:solidFill>
                <a:latin typeface="Arial Narrow"/>
              </a:rPr>
              <a:t>1 IN 4 CARS HAS AN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800" b="1">
                <a:solidFill>
                  <a:srgbClr val="EDECE7"/>
                </a:solidFill>
                <a:latin typeface="Arial Narrow"/>
              </a:rPr>
              <a:t>OPEN SAFETY RECALL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28346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EDECE7"/>
                </a:solidFill>
                <a:latin typeface="Arial"/>
              </a:rPr>
              <a:t>•  The repair is </a:t>
            </a:r>
            <a:r>
              <a:rPr sz="2200" b="1">
                <a:solidFill>
                  <a:srgbClr val="F7B500"/>
                </a:solidFill>
                <a:latin typeface="Arial"/>
              </a:rPr>
              <a:t>always free</a:t>
            </a:r>
            <a:r>
              <a:rPr sz="2200" b="0">
                <a:solidFill>
                  <a:srgbClr val="EDECE7"/>
                </a:solidFill>
                <a:latin typeface="Arial"/>
              </a:rPr>
              <a:t> — federal law.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EDECE7"/>
                </a:solidFill>
                <a:latin typeface="Arial"/>
              </a:rPr>
              <a:t>•  Owners still don't get it fixed.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EDECE7"/>
                </a:solidFill>
                <a:latin typeface="Arial"/>
              </a:rPr>
              <a:t>•  The letter never answers: </a:t>
            </a:r>
            <a:r>
              <a:rPr sz="2200" b="1">
                <a:solidFill>
                  <a:srgbClr val="F7B500"/>
                </a:solidFill>
                <a:latin typeface="Arial"/>
              </a:rPr>
              <a:t>how bad? what do I do? what does it cost?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RecallClear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the letter is the interface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 rot="21480000">
            <a:off x="1005840" y="777240"/>
            <a:ext cx="2103120" cy="566928"/>
          </a:xfrm>
          <a:prstGeom prst="roundRect">
            <a:avLst>
              <a:gd name="adj" fmla="val 25000"/>
            </a:avLst>
          </a:prstGeom>
          <a:solidFill>
            <a:srgbClr val="F7B500"/>
          </a:solidFill>
          <a:ln w="31750">
            <a:solidFill>
              <a:srgbClr val="151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150F"/>
                </a:solidFill>
                <a:latin typeface="Arial Narrow"/>
              </a:rPr>
              <a:t>RECAL·CLR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400" b="1">
                <a:solidFill>
                  <a:srgbClr val="EDECE7"/>
                </a:solidFill>
                <a:latin typeface="Arial Narrow"/>
              </a:rPr>
              <a:t>EVERY LETTER → FIVE PLAIN LINES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2514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F7B500"/>
                </a:solidFill>
                <a:latin typeface="Courier New"/>
              </a:rPr>
              <a:t>WHAT'S WRONG</a:t>
            </a:r>
            <a:r>
              <a:rPr sz="2000" b="0">
                <a:solidFill>
                  <a:srgbClr val="EDECE7"/>
                </a:solidFill>
                <a:latin typeface="Courier New"/>
              </a:rPr>
              <a:t> · one sentence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F7B500"/>
                </a:solidFill>
                <a:latin typeface="Courier New"/>
              </a:rPr>
              <a:t>WHAT COULD HAPPEN</a:t>
            </a:r>
            <a:r>
              <a:rPr sz="2000" b="0">
                <a:solidFill>
                  <a:srgbClr val="EDECE7"/>
                </a:solidFill>
                <a:latin typeface="Courier New"/>
              </a:rPr>
              <a:t> · one sentence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F7B500"/>
                </a:solidFill>
                <a:latin typeface="Courier New"/>
              </a:rPr>
              <a:t>HOW URGENT</a:t>
            </a:r>
            <a:r>
              <a:rPr sz="2000" b="0">
                <a:solidFill>
                  <a:srgbClr val="EDECE7"/>
                </a:solidFill>
                <a:latin typeface="Courier New"/>
              </a:rPr>
              <a:t> · a road-sign answer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F7B500"/>
                </a:solidFill>
                <a:latin typeface="Courier New"/>
              </a:rPr>
              <a:t>WHAT TO DO</a:t>
            </a:r>
            <a:r>
              <a:rPr sz="2000" b="0">
                <a:solidFill>
                  <a:srgbClr val="EDECE7"/>
                </a:solidFill>
                <a:latin typeface="Courier New"/>
              </a:rPr>
              <a:t> · the next step + phone number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F7B500"/>
                </a:solidFill>
                <a:latin typeface="Courier New"/>
              </a:rPr>
              <a:t>WHAT IT COSTS</a:t>
            </a:r>
            <a:r>
              <a:rPr sz="2000" b="0">
                <a:solidFill>
                  <a:srgbClr val="EDECE7"/>
                </a:solidFill>
                <a:latin typeface="Courier New"/>
              </a:rPr>
              <a:t> · nothing. always.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0A8"/>
                </a:solidFill>
                <a:latin typeface="Arial"/>
              </a:rPr>
              <a:t>Live web app — paste the letter, or just the recall number.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recallclear-166936551184.us-central1.run.app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live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HOW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640080"/>
            <a:ext cx="4206240" cy="347472"/>
          </a:xfrm>
          <a:prstGeom prst="rect">
            <a:avLst/>
          </a:prstGeom>
          <a:solidFill>
            <a:srgbClr val="D6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</a:rPr>
              <a:t>INNOVATION 1 · SELF-SUPERVISED FROM PUBLIC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105156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>
                <a:solidFill>
                  <a:srgbClr val="EDECE7"/>
                </a:solidFill>
                <a:latin typeface="Arial Narrow"/>
              </a:rPr>
              <a:t>LORA ON A 135M MODEL,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>
                <a:solidFill>
                  <a:srgbClr val="EDECE7"/>
                </a:solidFill>
                <a:latin typeface="Arial Narrow"/>
              </a:rPr>
              <a:t>TRAINED ON A LAPTOP CPU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28803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EDECE7"/>
                </a:solidFill>
                <a:latin typeface="Arial"/>
              </a:rPr>
              <a:t>•  </a:t>
            </a:r>
            <a:r>
              <a:rPr sz="1800" b="1">
                <a:solidFill>
                  <a:srgbClr val="F7B500"/>
                </a:solidFill>
                <a:latin typeface="Arial"/>
              </a:rPr>
              <a:t>11,591 real notices</a:t>
            </a:r>
            <a:r>
              <a:rPr sz="1800" b="0">
                <a:solidFill>
                  <a:srgbClr val="EDECE7"/>
                </a:solidFill>
                <a:latin typeface="Arial"/>
              </a:rPr>
              <a:t> — U.S. DOT open data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EDECE7"/>
                </a:solidFill>
                <a:latin typeface="Arial"/>
              </a:rPr>
              <a:t>•  Zero hand-labeling: targets built by </a:t>
            </a:r>
            <a:r>
              <a:rPr sz="1800" b="1">
                <a:solidFill>
                  <a:srgbClr val="F7B500"/>
                </a:solidFill>
                <a:latin typeface="Arial"/>
              </a:rPr>
              <a:t>auditable rules</a:t>
            </a:r>
            <a:r>
              <a:rPr sz="1800" b="0">
                <a:solidFill>
                  <a:srgbClr val="EDECE7"/>
                </a:solidFill>
                <a:latin typeface="Arial"/>
              </a:rPr>
              <a:t> from NHTSA's fields + official safety flags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EDECE7"/>
                </a:solidFill>
                <a:latin typeface="Arial"/>
              </a:rPr>
              <a:t>•  LoRA = </a:t>
            </a:r>
            <a:r>
              <a:rPr sz="1800" b="1">
                <a:solidFill>
                  <a:srgbClr val="F7B500"/>
                </a:solidFill>
                <a:latin typeface="Arial"/>
              </a:rPr>
              <a:t>3.5%</a:t>
            </a:r>
            <a:r>
              <a:rPr sz="1800" b="0">
                <a:solidFill>
                  <a:srgbClr val="EDECE7"/>
                </a:solidFill>
                <a:latin typeface="Arial"/>
              </a:rPr>
              <a:t> of weights → a </a:t>
            </a:r>
            <a:r>
              <a:rPr sz="1800" b="1">
                <a:solidFill>
                  <a:srgbClr val="F7B500"/>
                </a:solidFill>
                <a:latin typeface="Arial"/>
              </a:rPr>
              <a:t>20 MB</a:t>
            </a:r>
            <a:r>
              <a:rPr sz="1800" b="0">
                <a:solidFill>
                  <a:srgbClr val="EDECE7"/>
                </a:solidFill>
                <a:latin typeface="Arial"/>
              </a:rPr>
              <a:t> adapter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66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MEASURED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066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training time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9264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25 min (CPU)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0664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CPU vs GPU here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9264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7B500"/>
                </a:solidFill>
                <a:latin typeface="Courier New"/>
              </a:rPr>
              <a:t>CPU 4× faster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066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card on CPU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9264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~4 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SmolLM2-135M-Instruct · LoRA r16 · 4.9M trainable params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everything benchmarked, nothing assumed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BEFORE / AFTER — 150 NOTICES, 7 BRANDS THE MODEL NEVER SAW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600" b="1">
                <a:solidFill>
                  <a:srgbClr val="EDECE7"/>
                </a:solidFill>
                <a:latin typeface="Arial Narrow"/>
              </a:rPr>
              <a:t>0% → 63% → </a:t>
            </a:r>
            <a:r>
              <a:rPr sz="5600" b="1">
                <a:solidFill>
                  <a:srgbClr val="F7B500"/>
                </a:solidFill>
                <a:latin typeface="Arial Narrow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2377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23774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STOCK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+2 EXAMPLES IN PROMPT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2377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FINE-TUNED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" y="2880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card format correct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37760" y="28803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D64036"/>
                </a:solidFill>
                <a:latin typeface="Courier New"/>
              </a:rPr>
              <a:t>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2880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63%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0" y="2880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7B500"/>
                </a:solidFill>
                <a:latin typeface="Courier New"/>
              </a:rPr>
              <a:t>100%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" y="3383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reading grade (letters: 12.7)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0" y="3383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13.0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3383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8.0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0" y="3383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7B500"/>
                </a:solidFill>
                <a:latin typeface="Courier New"/>
              </a:rPr>
              <a:t>7.3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" y="38862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jargon / 100 words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7760" y="3886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2.5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2.3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18320" y="3886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7B500"/>
                </a:solidFill>
                <a:latin typeface="Courier New"/>
              </a:rPr>
              <a:t>0.7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584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prompt tokens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60" y="43891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427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4389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Courier New"/>
              </a:rPr>
              <a:t>1,334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1832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7B500"/>
                </a:solidFill>
                <a:latin typeface="Courier New"/>
              </a:rPr>
              <a:t>427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0A8"/>
                </a:solidFill>
                <a:latin typeface="Arial"/>
              </a:rPr>
              <a:t>The app has three bays — anyone can re-run this race, live.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held out by manufacturer, not at random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macro-F1 reported, accuracy is a trap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THE RESULT I'M PROUDEST OF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640080"/>
            <a:ext cx="4206240" cy="347472"/>
          </a:xfrm>
          <a:prstGeom prst="rect">
            <a:avLst/>
          </a:prstGeom>
          <a:solidFill>
            <a:srgbClr val="D6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</a:rPr>
              <a:t>INNOVATION 2 · A REPLICATED NEGATIVE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105156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>
                <a:solidFill>
                  <a:srgbClr val="EDECE7"/>
                </a:solidFill>
                <a:latin typeface="Arial Narrow"/>
              </a:rPr>
              <a:t>WE TRAINED IT TWICE TO SAY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>
                <a:solidFill>
                  <a:srgbClr val="EDECE7"/>
                </a:solidFill>
                <a:latin typeface="Arial Narrow"/>
              </a:rPr>
              <a:t>"</a:t>
            </a:r>
            <a:r>
              <a:rPr sz="4200" b="1">
                <a:solidFill>
                  <a:srgbClr val="F7B500"/>
                </a:solidFill>
                <a:latin typeface="Arial Narrow"/>
              </a:rPr>
              <a:t>STOP DRIVING</a:t>
            </a:r>
            <a:r>
              <a:rPr sz="4200" b="1">
                <a:solidFill>
                  <a:srgbClr val="EDECE7"/>
                </a:solidFill>
                <a:latin typeface="Arial Narrow"/>
              </a:rPr>
              <a:t>." IT WOULDN’T.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29718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EDECE7"/>
                </a:solidFill>
                <a:latin typeface="Arial"/>
              </a:rPr>
              <a:t>•  Run 1, uniform data: rare-warning recall </a:t>
            </a:r>
            <a:r>
              <a:rPr sz="1900" b="1">
                <a:solidFill>
                  <a:srgbClr val="D64036"/>
                </a:solidFill>
                <a:latin typeface="Courier New"/>
              </a:rPr>
              <a:t>0%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EDECE7"/>
                </a:solidFill>
                <a:latin typeface="Arial"/>
              </a:rPr>
              <a:t>•  Run 2, rare cases ×8 (16% of the mix): </a:t>
            </a:r>
            <a:r>
              <a:rPr sz="1900" b="1">
                <a:solidFill>
                  <a:srgbClr val="D64036"/>
                </a:solidFill>
                <a:latin typeface="Arial"/>
              </a:rPr>
              <a:t>still 0%</a:t>
            </a:r>
            <a:r>
              <a:rPr sz="1900" b="0">
                <a:solidFill>
                  <a:srgbClr val="EDECE7"/>
                </a:solidFill>
                <a:latin typeface="Arial"/>
              </a:rPr>
              <a:t> — even on letters it trained 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EDECE7"/>
                </a:solidFill>
                <a:latin typeface="Arial"/>
              </a:rPr>
              <a:t>•  Why: the warning is </a:t>
            </a:r>
            <a:r>
              <a:rPr sz="1900" b="1">
                <a:solidFill>
                  <a:srgbClr val="F7B500"/>
                </a:solidFill>
                <a:latin typeface="Arial"/>
              </a:rPr>
              <a:t>3 tokens out of ~130</a:t>
            </a:r>
            <a:r>
              <a:rPr sz="1900" b="0">
                <a:solidFill>
                  <a:srgbClr val="EDECE7"/>
                </a:solidFill>
                <a:latin typeface="Arial"/>
              </a:rPr>
              <a:t>. Token-averaged loss never feels 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EDECE7"/>
                </a:solidFill>
                <a:latin typeface="Arial"/>
              </a:rPr>
              <a:t>•  Class imbalance wasn't the problem. </a:t>
            </a:r>
            <a:r>
              <a:rPr sz="1900" b="1">
                <a:solidFill>
                  <a:srgbClr val="F7B500"/>
                </a:solidFill>
                <a:latin typeface="Arial"/>
              </a:rPr>
              <a:t>Token imbalance was.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eval loss 0.05 — and still silent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replicated, not anecdotal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685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Arial Narrow"/>
              </a:rPr>
              <a:t>THE FIX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640080"/>
            <a:ext cx="4206240" cy="347472"/>
          </a:xfrm>
          <a:prstGeom prst="rect">
            <a:avLst/>
          </a:prstGeom>
          <a:solidFill>
            <a:srgbClr val="D6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</a:rPr>
              <a:t>INNOVATION 3 · THREE-LAYER SAFETY DESIGN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105156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800" b="1">
                <a:solidFill>
                  <a:srgbClr val="EDECE7"/>
                </a:solidFill>
                <a:latin typeface="Arial Narrow"/>
              </a:rPr>
              <a:t>STOP ASKING THE MODEL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2148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WHO MAKES THE DO-NOT-DRIVE CALL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2148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0A8"/>
                </a:solidFill>
                <a:latin typeface="Arial Narrow"/>
              </a:rPr>
              <a:t>RECALL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" y="2651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the fine-tuned model (both versions)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2651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D64036"/>
                </a:solidFill>
                <a:latin typeface="Courier New"/>
              </a:rPr>
              <a:t>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3154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15 lines of rules reading the letter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3154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E9E63"/>
                </a:solidFill>
                <a:latin typeface="Courier New"/>
              </a:rPr>
              <a:t>73%  = all the text contains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3657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EDECE7"/>
                </a:solidFill>
                <a:latin typeface="Arial"/>
              </a:rPr>
              <a:t>NHTSA's official flags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3657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9E63"/>
                </a:solidFill>
                <a:latin typeface="Courier New"/>
              </a:rPr>
              <a:t>100%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" y="44805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EDECE7"/>
                </a:solidFill>
                <a:latin typeface="Arial Narrow"/>
              </a:rPr>
              <a:t>THE MODEL WRITES THE PROSE.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F7B500"/>
                </a:solidFill>
                <a:latin typeface="Arial Narrow"/>
              </a:rPr>
              <a:t>THE ALARM IS NEVER ITS CALL.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all three layers ship in the live app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0% / 73% / 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3840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7680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521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5361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9202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23042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6883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07238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345643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84048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22452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60857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99262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537667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576072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614476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652881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691286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729691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768096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806500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844905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83310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21715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960120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98524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1036929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10753344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11137392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11521440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11905488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2289536" y="0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7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-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3840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7680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11521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15361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19202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23042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26883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307238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345643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384048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422452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460857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499262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537667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576072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14476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52881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91286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29691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68096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06500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44905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83310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921715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960120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998524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1036929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10753344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1137392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11521440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11905488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12289536" y="6748272"/>
            <a:ext cx="211226" cy="109728"/>
          </a:xfrm>
          <a:prstGeom prst="parallelogram">
            <a:avLst>
              <a:gd name="adj" fmla="val 9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 rot="21480000">
            <a:off x="1005840" y="777240"/>
            <a:ext cx="2103120" cy="566928"/>
          </a:xfrm>
          <a:prstGeom prst="roundRect">
            <a:avLst>
              <a:gd name="adj" fmla="val 25000"/>
            </a:avLst>
          </a:prstGeom>
          <a:solidFill>
            <a:srgbClr val="F7B500"/>
          </a:solidFill>
          <a:ln w="31750">
            <a:solidFill>
              <a:srgbClr val="151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150F"/>
                </a:solidFill>
                <a:latin typeface="Arial Narrow"/>
              </a:rPr>
              <a:t>RECAL·CLR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400" b="1">
                <a:solidFill>
                  <a:srgbClr val="EDECE7"/>
                </a:solidFill>
                <a:latin typeface="Arial Narrow"/>
              </a:rPr>
              <a:t>20 MB. 25 MINUTES. A LAPTOP.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400" b="1">
                <a:solidFill>
                  <a:srgbClr val="EDECE7"/>
                </a:solidFill>
                <a:latin typeface="Arial Narrow"/>
              </a:rPr>
              <a:t>GRADE 13 → </a:t>
            </a:r>
            <a:r>
              <a:rPr sz="4400" b="1">
                <a:solidFill>
                  <a:srgbClr val="F7B500"/>
                </a:solidFill>
                <a:latin typeface="Arial Narrow"/>
              </a:rPr>
              <a:t>GRADE 7</a:t>
            </a:r>
            <a:r>
              <a:rPr sz="4400" b="1">
                <a:solidFill>
                  <a:srgbClr val="EDECE7"/>
                </a:solidFill>
                <a:latin typeface="Arial Narrow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32918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Courier New"/>
              </a:rPr>
              <a:t>Repo   </a:t>
            </a:r>
            <a:r>
              <a:rPr sz="1600" b="0">
                <a:solidFill>
                  <a:srgbClr val="EDECE7"/>
                </a:solidFill>
                <a:latin typeface="Courier New"/>
              </a:rPr>
              <a:t>github.com/hanfuzhao/Module4-RecallClear — 17 reviewed PRs · 85 tests · CI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Courier New"/>
              </a:rPr>
              <a:t>Model  </a:t>
            </a:r>
            <a:r>
              <a:rPr sz="1600" b="0">
                <a:solidFill>
                  <a:srgbClr val="EDECE7"/>
                </a:solidFill>
                <a:latin typeface="Courier New"/>
              </a:rPr>
              <a:t>huggingface.co/HanfuZhao781/recallclear-smollm2-135m-lora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600" b="1">
                <a:solidFill>
                  <a:srgbClr val="F7B500"/>
                </a:solidFill>
                <a:latin typeface="Courier New"/>
              </a:rPr>
              <a:t>App    </a:t>
            </a:r>
            <a:r>
              <a:rPr sz="1600" b="0">
                <a:solidFill>
                  <a:srgbClr val="EDECE7"/>
                </a:solidFill>
                <a:latin typeface="Courier New"/>
              </a:rPr>
              <a:t>recallclear-166936551184.us-central1.run.app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9AA0A8"/>
                </a:solidFill>
                <a:latin typeface="Arial"/>
              </a:rPr>
              <a:t>…and the system knows exactly which decision the model is </a:t>
            </a:r>
            <a:r>
              <a:rPr sz="1900" b="1">
                <a:solidFill>
                  <a:srgbClr val="F7B500"/>
                </a:solidFill>
                <a:latin typeface="Arial"/>
              </a:rPr>
              <a:t>not allowed to make.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thank you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2255" y="6291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F747C"/>
                </a:solidFill>
                <a:latin typeface="Courier New"/>
              </a:rPr>
              <a:t>hanfuzhao · Duke AIPI 540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